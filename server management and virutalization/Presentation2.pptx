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2" r:id="rId12"/>
  </p:sldIdLst>
  <p:sldSz cx="12192000" cy="6858000"/>
  <p:notesSz cx="6858000" cy="9144000"/>
  <p:defaultTextStyle>
    <a:defPPr>
      <a:defRPr lang="en-N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66"/>
    <p:restoredTop sz="96405"/>
  </p:normalViewPr>
  <p:slideViewPr>
    <p:cSldViewPr snapToGrid="0">
      <p:cViewPr>
        <p:scale>
          <a:sx n="114" d="100"/>
          <a:sy n="114" d="100"/>
        </p:scale>
        <p:origin x="152" y="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950B-E647-6C1C-9149-273DB106E8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FC4681-E060-BE05-4AB9-E3D7C4DAB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68C1B-E4E0-0BCE-4E52-4ECA532C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B96915-BF49-03A1-36DC-3D967733A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5AFA5-C039-1F64-2360-423BA12D8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42932746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93C15-65F8-4922-B302-DE8E16D2E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23112-AF61-4979-F26F-50BB6D3690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366A2-C763-69CD-DEC4-B9C130221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B2B3A-0A93-768F-C367-0E5B528C5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CC24A-18E3-3DF7-B64E-653848AAB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95284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84039-3410-887A-6F0B-EE861C2AC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0D6C6-10CA-2D15-40D2-0C2E475B99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9A67A-AB15-19D7-0AB5-C10F79267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7E5A-5CAC-D775-75FE-F653E4C9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EC66D-61FC-47DB-F5B6-118D32DF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8233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8404D-3EF9-0A25-2BDB-3A04DAC45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C226-D50A-3194-E07D-B54841A453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5F630-BB7E-5226-B518-183A9D9740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F5319-7794-A4DE-A46A-B04E2830A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00746-AB6C-6821-2AB1-700FA5E0C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50E39-5A52-AB84-C876-BB6859D5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88979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DF886-BC9C-BB02-31A9-9F0B37230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9360CF-BB0F-1879-BC0F-B3ED659FB6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A97F6-D025-A9F9-E383-4871B8DBC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142D7-D879-8E38-5A1D-67B70AB94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96ACBF-7CA6-C81A-D4E8-9B72FF29EB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B9CEB0-DC28-0D6E-2087-68183CA67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8F977-E980-E29D-6A32-38D244543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3CBF9-5CF0-8A5E-F214-BEC9F129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98755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B449F-5425-F30C-3BFA-00112051D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D3744A-1A52-BE15-1EB8-D5FC6CB3C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FC46A-258B-17FA-92DB-9D98F99EE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54B81-99D5-CA99-D01C-241CCB97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2784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62EA32-639C-00B2-1A92-80FBCC02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E41E51-3A04-E0B2-0BD7-09FE5D7E5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59086-F9F8-2AB0-AEDF-138CA751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59492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97A56-81BD-0D0C-7A67-CCCC663D7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1C1E2-7AFD-D461-5DAF-DCD866677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CDF02-9937-57CC-1629-AFD6A09A1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9AE75E-BE0B-5C91-7B92-A7410F4F9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63BE5-CA9B-AE17-CDEC-59217A2C4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152A90-3889-2E6D-2C3D-9E3403886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59384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BA281-0CD2-CB21-9514-7C176A459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F14AC3-8A82-6BF5-6939-C47ED960B3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71987F-6246-7A9A-9000-12EE6B0A6C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3EF790-5F50-C82F-2640-81B537F6C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CFB93-957B-05D9-4109-5E2C976E0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41475-0B71-596F-0988-63F965014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403607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D97F-7075-A998-F655-947E4301C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5CAC24-9715-6BA2-C0E2-E0E8EE107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AB588-5031-A3DF-E2B9-6AAB4A291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8A4402-4DBB-295E-DDE1-A1C6FF735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6A4AB-283E-7555-D47D-442506584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86760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59A841C-A120-0124-2A1E-6E0A231318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9A31E-5125-DB6F-E1C5-CA7D78C4EA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C29C9-73B0-CF7A-2E57-D5C6424F8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588B5-D2CC-79B5-15B2-32A9BE80D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F2A5-7200-8693-882E-205A9C12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331666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E821C3-F253-B146-C920-7DF6914AA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CF7690-8CB5-E487-E783-CE2E871FB0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99D25-D9F5-CAF1-10D0-EDB295F305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AF59-DD0B-154B-9BDA-76BF343842FC}" type="datetimeFigureOut">
              <a:rPr lang="en-NP" smtClean="0"/>
              <a:t>05/05/2025</a:t>
            </a:fld>
            <a:endParaRPr lang="en-N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16F6F-BFE8-47B8-B746-5213515E8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N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3523C2-D624-B55A-AFD8-A2B039FF9B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85F98-3E78-594F-9D1F-B9D25D73CBB4}" type="slidenum">
              <a:rPr lang="en-NP" smtClean="0"/>
              <a:t>‹#›</a:t>
            </a:fld>
            <a:endParaRPr lang="en-NP"/>
          </a:p>
        </p:txBody>
      </p:sp>
    </p:spTree>
    <p:extLst>
      <p:ext uri="{BB962C8B-B14F-4D97-AF65-F5344CB8AC3E}">
        <p14:creationId xmlns:p14="http://schemas.microsoft.com/office/powerpoint/2010/main" val="133941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60797154-6572-8CCB-3558-D423D6DB1870}"/>
              </a:ext>
            </a:extLst>
          </p:cNvPr>
          <p:cNvSpPr/>
          <p:nvPr/>
        </p:nvSpPr>
        <p:spPr>
          <a:xfrm>
            <a:off x="581755" y="1073363"/>
            <a:ext cx="6852715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Server Automation: PowerShell vs. Shell Scripting</a:t>
            </a:r>
            <a:endParaRPr lang="en-US" sz="44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165F3E91-F8E1-3387-FFB1-BAC6223666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6" name="Text 4">
            <a:extLst>
              <a:ext uri="{FF2B5EF4-FFF2-40B4-BE49-F238E27FC236}">
                <a16:creationId xmlns:a16="http://schemas.microsoft.com/office/drawing/2014/main" id="{BB9B5E39-C679-0500-974E-E19EC24178AE}"/>
              </a:ext>
            </a:extLst>
          </p:cNvPr>
          <p:cNvSpPr/>
          <p:nvPr/>
        </p:nvSpPr>
        <p:spPr>
          <a:xfrm>
            <a:off x="581754" y="4533036"/>
            <a:ext cx="4726845" cy="170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by (TEAM 6) </a:t>
            </a:r>
            <a:r>
              <a:rPr lang="en-US" sz="2200" b="1" dirty="0" err="1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Aadarsha</a:t>
            </a: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K.C. , </a:t>
            </a:r>
            <a:r>
              <a:rPr lang="en-US" sz="2200" b="1" dirty="0" err="1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Suwan</a:t>
            </a: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</a:t>
            </a:r>
            <a:r>
              <a:rPr lang="en-US" sz="2200" b="1" dirty="0" err="1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Dhital</a:t>
            </a: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, Ronit Nepali,</a:t>
            </a:r>
          </a:p>
          <a:p>
            <a:pPr marL="0" indent="0" algn="just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 Saima </a:t>
            </a:r>
            <a:r>
              <a:rPr lang="en-US" sz="2200" b="1" dirty="0" err="1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Bantawa</a:t>
            </a:r>
            <a:r>
              <a:rPr lang="en-US" sz="22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, Bipin </a:t>
            </a:r>
            <a:r>
              <a:rPr lang="en-US" sz="2200" b="1" dirty="0" err="1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Guragain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1088997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6056E8C-1968-6872-4F99-40D8A11C4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FCA7289B-ECE9-B548-B1A4-97C46441A5D4}"/>
              </a:ext>
            </a:extLst>
          </p:cNvPr>
          <p:cNvSpPr/>
          <p:nvPr/>
        </p:nvSpPr>
        <p:spPr>
          <a:xfrm>
            <a:off x="1509600" y="148232"/>
            <a:ext cx="4141979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PowerShell?</a:t>
            </a:r>
            <a:endParaRPr lang="en-US" sz="445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FFEC5AD-CAAA-98E3-6A83-BDE01721DAD5}"/>
              </a:ext>
            </a:extLst>
          </p:cNvPr>
          <p:cNvSpPr/>
          <p:nvPr/>
        </p:nvSpPr>
        <p:spPr>
          <a:xfrm>
            <a:off x="808052" y="1209771"/>
            <a:ext cx="324751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Task Automation &amp; Configuration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79AFFF3E-5B15-241E-F374-5A3CC2E39721}"/>
              </a:ext>
            </a:extLst>
          </p:cNvPr>
          <p:cNvSpPr/>
          <p:nvPr/>
        </p:nvSpPr>
        <p:spPr>
          <a:xfrm>
            <a:off x="655505" y="2003751"/>
            <a:ext cx="3121602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PowerShell is a Microsoft-developed framework designed for automating administrative tasks and managing configurations efficiently.</a:t>
            </a:r>
            <a:endParaRPr lang="en-US" sz="17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75E6CDF-667C-38B5-75E2-205CC33139AA}"/>
              </a:ext>
            </a:extLst>
          </p:cNvPr>
          <p:cNvSpPr/>
          <p:nvPr/>
        </p:nvSpPr>
        <p:spPr>
          <a:xfrm>
            <a:off x="4018547" y="1546122"/>
            <a:ext cx="148301" cy="14151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26FC944-384A-8BE1-D0DD-7FC4F4671B1A}"/>
              </a:ext>
            </a:extLst>
          </p:cNvPr>
          <p:cNvSpPr/>
          <p:nvPr/>
        </p:nvSpPr>
        <p:spPr>
          <a:xfrm>
            <a:off x="4282375" y="1432804"/>
            <a:ext cx="3258871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Object-Oriented Commands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EEEAF224-0FE4-D806-6726-C35067CB10CF}"/>
              </a:ext>
            </a:extLst>
          </p:cNvPr>
          <p:cNvSpPr/>
          <p:nvPr/>
        </p:nvSpPr>
        <p:spPr>
          <a:xfrm>
            <a:off x="4282375" y="1897892"/>
            <a:ext cx="3121602" cy="1814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Built on the .NET framework, it uses cmdlets operating on objects, enabling complex data manipulation and easy automation.</a:t>
            </a:r>
            <a:endParaRPr lang="en-US" sz="17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6E7BCFD2-A787-F766-1697-4D4008021FCC}"/>
              </a:ext>
            </a:extLst>
          </p:cNvPr>
          <p:cNvSpPr/>
          <p:nvPr/>
        </p:nvSpPr>
        <p:spPr>
          <a:xfrm>
            <a:off x="808052" y="4175457"/>
            <a:ext cx="26202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Cross-Platform Availability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2C7DE060-1207-B412-8D8C-AB823F94028B}"/>
              </a:ext>
            </a:extLst>
          </p:cNvPr>
          <p:cNvSpPr/>
          <p:nvPr/>
        </p:nvSpPr>
        <p:spPr>
          <a:xfrm>
            <a:off x="789990" y="4517939"/>
            <a:ext cx="4981037" cy="9072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Initially native to Windows, PowerShell now runs on Linux and macOS through PowerShell Core, expanding its reach significantly.</a:t>
            </a:r>
            <a:endParaRPr lang="en-US" sz="1750" dirty="0"/>
          </a:p>
        </p:txBody>
      </p:sp>
      <p:sp>
        <p:nvSpPr>
          <p:cNvPr id="15" name="Shape 4">
            <a:extLst>
              <a:ext uri="{FF2B5EF4-FFF2-40B4-BE49-F238E27FC236}">
                <a16:creationId xmlns:a16="http://schemas.microsoft.com/office/drawing/2014/main" id="{F3B277FC-2F5E-C45A-32A1-A639B93A1CAB}"/>
              </a:ext>
            </a:extLst>
          </p:cNvPr>
          <p:cNvSpPr/>
          <p:nvPr/>
        </p:nvSpPr>
        <p:spPr>
          <a:xfrm>
            <a:off x="492081" y="1493771"/>
            <a:ext cx="148301" cy="14151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29E37AEC-EC41-2FCB-B395-C4D627D0EE19}"/>
              </a:ext>
            </a:extLst>
          </p:cNvPr>
          <p:cNvSpPr/>
          <p:nvPr/>
        </p:nvSpPr>
        <p:spPr>
          <a:xfrm>
            <a:off x="546347" y="4309603"/>
            <a:ext cx="148301" cy="141511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02066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9D18E58D-4C10-45B3-B4AB-0022A7D93F16}"/>
              </a:ext>
            </a:extLst>
          </p:cNvPr>
          <p:cNvSpPr/>
          <p:nvPr/>
        </p:nvSpPr>
        <p:spPr>
          <a:xfrm>
            <a:off x="776205" y="683737"/>
            <a:ext cx="63563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What is Shell Scripting?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7F6D425-887B-AD2D-C9A6-65DCA692B6C7}"/>
              </a:ext>
            </a:extLst>
          </p:cNvPr>
          <p:cNvSpPr/>
          <p:nvPr/>
        </p:nvSpPr>
        <p:spPr>
          <a:xfrm>
            <a:off x="776205" y="1830825"/>
            <a:ext cx="44336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Command-Line Task Automation</a:t>
            </a:r>
            <a:endParaRPr lang="en-US" sz="2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15BB2D89-1476-5E39-845D-5885BDAA87E1}"/>
              </a:ext>
            </a:extLst>
          </p:cNvPr>
          <p:cNvSpPr/>
          <p:nvPr/>
        </p:nvSpPr>
        <p:spPr>
          <a:xfrm>
            <a:off x="776205" y="2260561"/>
            <a:ext cx="51439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Shell scripting uses command-line interpreters like Bash or Zsh to automate routine tasks on Unix-like systems.</a:t>
            </a:r>
            <a:endParaRPr lang="en-US" sz="17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D82F2DF3-09BA-D734-DD02-D3359E929025}"/>
              </a:ext>
            </a:extLst>
          </p:cNvPr>
          <p:cNvSpPr/>
          <p:nvPr/>
        </p:nvSpPr>
        <p:spPr>
          <a:xfrm>
            <a:off x="776205" y="3310057"/>
            <a:ext cx="499154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Scripts manipulate plain text commands and utilities, making it simple yet powerful for managing Linux and macOS systems.</a:t>
            </a:r>
            <a:endParaRPr lang="en-US" sz="17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DB9E946-3918-E97B-334E-1195983BFCEB}"/>
              </a:ext>
            </a:extLst>
          </p:cNvPr>
          <p:cNvSpPr/>
          <p:nvPr/>
        </p:nvSpPr>
        <p:spPr>
          <a:xfrm>
            <a:off x="6620608" y="1832850"/>
            <a:ext cx="30621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Text-Based Processing</a:t>
            </a:r>
            <a:endParaRPr lang="en-US" sz="22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901E0D8-E6F5-8846-3CCA-99895C658CA1}"/>
              </a:ext>
            </a:extLst>
          </p:cNvPr>
          <p:cNvSpPr/>
          <p:nvPr/>
        </p:nvSpPr>
        <p:spPr>
          <a:xfrm>
            <a:off x="6620608" y="2362516"/>
            <a:ext cx="514394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Unlike object-based PowerShell, shell scripts process data as strings, relying on tools like awk, sed, and grep.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17E2B351-4573-F3D0-1037-D9CF644D3FF8}"/>
              </a:ext>
            </a:extLst>
          </p:cNvPr>
          <p:cNvSpPr/>
          <p:nvPr/>
        </p:nvSpPr>
        <p:spPr>
          <a:xfrm>
            <a:off x="6620608" y="3305414"/>
            <a:ext cx="514395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This text-centric approach makes shell scripts versatile for tasks that involve string parsing and file manipulations.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2514152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9A0696D-5BA8-5D71-E8F5-36422E0AF532}"/>
              </a:ext>
            </a:extLst>
          </p:cNvPr>
          <p:cNvSpPr/>
          <p:nvPr/>
        </p:nvSpPr>
        <p:spPr>
          <a:xfrm>
            <a:off x="597847" y="47121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Syntax and Structure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E796779-3EFC-3098-6A3D-875A73081A33}"/>
              </a:ext>
            </a:extLst>
          </p:cNvPr>
          <p:cNvSpPr/>
          <p:nvPr/>
        </p:nvSpPr>
        <p:spPr>
          <a:xfrm>
            <a:off x="597847" y="13333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PowerShell Syntax</a:t>
            </a:r>
            <a:endParaRPr lang="en-US" sz="22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21CD6CE-AA41-BB9C-061D-711BCFA667D5}"/>
              </a:ext>
            </a:extLst>
          </p:cNvPr>
          <p:cNvSpPr/>
          <p:nvPr/>
        </p:nvSpPr>
        <p:spPr>
          <a:xfrm>
            <a:off x="6189891" y="1338569"/>
            <a:ext cx="293179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Shell Scripting Syntax</a:t>
            </a:r>
            <a:endParaRPr lang="en-US" sz="22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4B1BB9D-DE07-C848-1D53-2CDC45C8B79A}"/>
              </a:ext>
            </a:extLst>
          </p:cNvPr>
          <p:cNvSpPr/>
          <p:nvPr/>
        </p:nvSpPr>
        <p:spPr>
          <a:xfrm>
            <a:off x="597848" y="2045085"/>
            <a:ext cx="477969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Verb-Noun cmdlets like Get-Process, supporting object pipelines for elegant data handling.</a:t>
            </a:r>
            <a:endParaRPr lang="en-US" sz="175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BF3EC16B-F36F-1E6B-D5A4-CA3E5B8DB830}"/>
              </a:ext>
            </a:extLst>
          </p:cNvPr>
          <p:cNvSpPr/>
          <p:nvPr/>
        </p:nvSpPr>
        <p:spPr>
          <a:xfrm>
            <a:off x="597847" y="3273077"/>
            <a:ext cx="477969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</a:t>
            </a:r>
            <a:r>
              <a:rPr lang="en-US" sz="175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Get-Process | Where-Object {$_.CPU -gt 1} | Sort-Object CPU -Descending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CD2A26E-1DA0-2B80-4125-F6E3AEBF9913}"/>
              </a:ext>
            </a:extLst>
          </p:cNvPr>
          <p:cNvSpPr/>
          <p:nvPr/>
        </p:nvSpPr>
        <p:spPr>
          <a:xfrm>
            <a:off x="6189891" y="2045085"/>
            <a:ext cx="49353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Commands are chained with pipes (|) and involve variables and control structures for flow control.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410CE57-9417-553F-0493-D25BBB2B4577}"/>
              </a:ext>
            </a:extLst>
          </p:cNvPr>
          <p:cNvSpPr/>
          <p:nvPr/>
        </p:nvSpPr>
        <p:spPr>
          <a:xfrm>
            <a:off x="6096000" y="327307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ps aux | awk '{print $2, $3, $4, $11}' | sort -k3 -r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7913992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2B36F6E2-0445-C437-E29E-778BAAC00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6858000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DAD3D0A7-8215-C6B4-3D9D-0141FFBE0323}"/>
              </a:ext>
            </a:extLst>
          </p:cNvPr>
          <p:cNvSpPr/>
          <p:nvPr/>
        </p:nvSpPr>
        <p:spPr>
          <a:xfrm>
            <a:off x="5356385" y="149627"/>
            <a:ext cx="7575233" cy="140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Cross-Platform Compatibility</a:t>
            </a:r>
            <a:endParaRPr lang="en-US" sz="440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78BD3B44-BD3B-1521-17BC-A0A94B41C130}"/>
              </a:ext>
            </a:extLst>
          </p:cNvPr>
          <p:cNvSpPr/>
          <p:nvPr/>
        </p:nvSpPr>
        <p:spPr>
          <a:xfrm>
            <a:off x="5356385" y="1310792"/>
            <a:ext cx="6291330" cy="2413244"/>
          </a:xfrm>
          <a:prstGeom prst="roundRect">
            <a:avLst>
              <a:gd name="adj" fmla="val 374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Shape 1">
            <a:extLst>
              <a:ext uri="{FF2B5EF4-FFF2-40B4-BE49-F238E27FC236}">
                <a16:creationId xmlns:a16="http://schemas.microsoft.com/office/drawing/2014/main" id="{26E1A025-C797-F618-2D1D-F01BE420CBA1}"/>
              </a:ext>
            </a:extLst>
          </p:cNvPr>
          <p:cNvSpPr/>
          <p:nvPr/>
        </p:nvSpPr>
        <p:spPr>
          <a:xfrm>
            <a:off x="5356385" y="4026922"/>
            <a:ext cx="6291330" cy="2413244"/>
          </a:xfrm>
          <a:prstGeom prst="roundRect">
            <a:avLst>
              <a:gd name="adj" fmla="val 3741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C53B7509-D8AC-DA89-29C3-569DDB6B25FC}"/>
              </a:ext>
            </a:extLst>
          </p:cNvPr>
          <p:cNvSpPr/>
          <p:nvPr/>
        </p:nvSpPr>
        <p:spPr>
          <a:xfrm>
            <a:off x="5556051" y="1429979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PowerShell</a:t>
            </a:r>
            <a:endParaRPr lang="en-US" sz="22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476781FC-0C23-5184-EA99-4436E7C8F972}"/>
              </a:ext>
            </a:extLst>
          </p:cNvPr>
          <p:cNvSpPr/>
          <p:nvPr/>
        </p:nvSpPr>
        <p:spPr>
          <a:xfrm>
            <a:off x="5492643" y="1820378"/>
            <a:ext cx="6018814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Native to Windows, with PowerShell Core offering official cross-platform support on Linux and macOS.</a:t>
            </a:r>
            <a:endParaRPr lang="en-US" sz="1750" dirty="0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DEC4839F-56EF-7801-EAB6-27CC9749D551}"/>
              </a:ext>
            </a:extLst>
          </p:cNvPr>
          <p:cNvSpPr/>
          <p:nvPr/>
        </p:nvSpPr>
        <p:spPr>
          <a:xfrm>
            <a:off x="5468336" y="2646937"/>
            <a:ext cx="5778513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Open-source and actively supported by Microsoft and the community.</a:t>
            </a:r>
            <a:endParaRPr lang="en-US" sz="17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B21C55E0-9450-194E-1B6A-42571216A767}"/>
              </a:ext>
            </a:extLst>
          </p:cNvPr>
          <p:cNvSpPr/>
          <p:nvPr/>
        </p:nvSpPr>
        <p:spPr>
          <a:xfrm>
            <a:off x="5556051" y="4060880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Shell Scripting</a:t>
            </a:r>
            <a:endParaRPr lang="en-US" sz="22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378081C-C059-D55D-338F-8B56CA7582DE}"/>
              </a:ext>
            </a:extLst>
          </p:cNvPr>
          <p:cNvSpPr/>
          <p:nvPr/>
        </p:nvSpPr>
        <p:spPr>
          <a:xfrm>
            <a:off x="5492644" y="4411043"/>
            <a:ext cx="5754206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Native on Linux and macOS, widely used for server automation in Unix environments.</a:t>
            </a:r>
            <a:endParaRPr lang="en-US" sz="175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91B3C5AE-DE39-F849-7784-8496B82855F1}"/>
              </a:ext>
            </a:extLst>
          </p:cNvPr>
          <p:cNvSpPr/>
          <p:nvPr/>
        </p:nvSpPr>
        <p:spPr>
          <a:xfrm>
            <a:off x="5492644" y="5207010"/>
            <a:ext cx="5754206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 Windows, it requires environments like Cygwin or WSL, sometimes needing script adjustments for compatibility.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40543992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9B45AC1E-AD27-C6E3-CCB3-29C85DF8A08F}"/>
              </a:ext>
            </a:extLst>
          </p:cNvPr>
          <p:cNvSpPr/>
          <p:nvPr/>
        </p:nvSpPr>
        <p:spPr>
          <a:xfrm>
            <a:off x="358442" y="345674"/>
            <a:ext cx="888063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Object vs. Text-Based Processing</a:t>
            </a:r>
            <a:endParaRPr lang="en-US" sz="445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EFCF5E28-107A-1755-D6C9-69793028A48B}"/>
              </a:ext>
            </a:extLst>
          </p:cNvPr>
          <p:cNvSpPr/>
          <p:nvPr/>
        </p:nvSpPr>
        <p:spPr>
          <a:xfrm>
            <a:off x="148340" y="18455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PowerShell Objects</a:t>
            </a:r>
            <a:endParaRPr lang="en-US" sz="1600" dirty="0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C331B873-B487-5C05-E751-DFC5A5528BC9}"/>
              </a:ext>
            </a:extLst>
          </p:cNvPr>
          <p:cNvSpPr/>
          <p:nvPr/>
        </p:nvSpPr>
        <p:spPr>
          <a:xfrm>
            <a:off x="358442" y="2335946"/>
            <a:ext cx="262513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directly with rich objects, allowing easy access and modification of properties without complex parsing.</a:t>
            </a:r>
            <a:endParaRPr lang="en-US" sz="16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C729CAC9-AD71-22E2-7E25-58BE6A4423B7}"/>
              </a:ext>
            </a:extLst>
          </p:cNvPr>
          <p:cNvSpPr/>
          <p:nvPr/>
        </p:nvSpPr>
        <p:spPr>
          <a:xfrm>
            <a:off x="358442" y="3923645"/>
            <a:ext cx="262513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</a:t>
            </a:r>
            <a:r>
              <a:rPr lang="en-US" sz="16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(Get-Process -Name notepad).CPU</a:t>
            </a: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returns a numeric CPU usage value.</a:t>
            </a:r>
            <a:endParaRPr lang="en-US" sz="16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7D8687F1-425B-1D05-1EF4-396E04CC5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204" y="1146512"/>
            <a:ext cx="4564975" cy="4564975"/>
          </a:xfrm>
          <a:prstGeom prst="rect">
            <a:avLst/>
          </a:prstGeom>
        </p:spPr>
      </p:pic>
      <p:sp>
        <p:nvSpPr>
          <p:cNvPr id="10" name="Text 4">
            <a:extLst>
              <a:ext uri="{FF2B5EF4-FFF2-40B4-BE49-F238E27FC236}">
                <a16:creationId xmlns:a16="http://schemas.microsoft.com/office/drawing/2014/main" id="{03420D8B-1C79-5A04-562D-B8403FFA34E2}"/>
              </a:ext>
            </a:extLst>
          </p:cNvPr>
          <p:cNvSpPr/>
          <p:nvPr/>
        </p:nvSpPr>
        <p:spPr>
          <a:xfrm>
            <a:off x="4384584" y="322962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C24855A1-F169-F22F-CF5B-53B72869C95C}"/>
              </a:ext>
            </a:extLst>
          </p:cNvPr>
          <p:cNvSpPr/>
          <p:nvPr/>
        </p:nvSpPr>
        <p:spPr>
          <a:xfrm>
            <a:off x="8455807" y="20269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Shell Scripting Text</a:t>
            </a:r>
            <a:endParaRPr lang="en-US" sz="160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8F2C0BBA-F1C7-D6E0-FA0F-FC4EDA73C91B}"/>
              </a:ext>
            </a:extLst>
          </p:cNvPr>
          <p:cNvSpPr/>
          <p:nvPr/>
        </p:nvSpPr>
        <p:spPr>
          <a:xfrm>
            <a:off x="8455807" y="2517398"/>
            <a:ext cx="337775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Manipulates plain text output, requiring parsing and conversion to extract usable data.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0E943E82-1EBC-DB0D-C6A7-CE2EF3D62089}"/>
              </a:ext>
            </a:extLst>
          </p:cNvPr>
          <p:cNvSpPr/>
          <p:nvPr/>
        </p:nvSpPr>
        <p:spPr>
          <a:xfrm>
            <a:off x="8455807" y="3742194"/>
            <a:ext cx="337775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</a:t>
            </a:r>
            <a:r>
              <a:rPr lang="en-US" sz="16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ps aux | grep notepad | awk '{print $3}'</a:t>
            </a: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outputs text that may need further transformation.</a:t>
            </a:r>
            <a:endParaRPr lang="en-US" sz="1600" dirty="0"/>
          </a:p>
        </p:txBody>
      </p:sp>
      <p:pic>
        <p:nvPicPr>
          <p:cNvPr id="14" name="Image 1" descr="preencoded.png">
            <a:extLst>
              <a:ext uri="{FF2B5EF4-FFF2-40B4-BE49-F238E27FC236}">
                <a16:creationId xmlns:a16="http://schemas.microsoft.com/office/drawing/2014/main" id="{9DD40111-7CEA-11C0-1CFC-98CC76C41F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7204" y="1146512"/>
            <a:ext cx="4564975" cy="4564975"/>
          </a:xfrm>
          <a:prstGeom prst="rect">
            <a:avLst/>
          </a:prstGeom>
        </p:spPr>
      </p:pic>
      <p:sp>
        <p:nvSpPr>
          <p:cNvPr id="15" name="Text 8">
            <a:extLst>
              <a:ext uri="{FF2B5EF4-FFF2-40B4-BE49-F238E27FC236}">
                <a16:creationId xmlns:a16="http://schemas.microsoft.com/office/drawing/2014/main" id="{82AE569D-D048-8219-332A-51F89BF3DD08}"/>
              </a:ext>
            </a:extLst>
          </p:cNvPr>
          <p:cNvSpPr/>
          <p:nvPr/>
        </p:nvSpPr>
        <p:spPr>
          <a:xfrm>
            <a:off x="6735592" y="322962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915063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3B524B5-BAF6-95E2-23CA-1D1F0D46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91878" cy="6887817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7800841-F953-547D-8B39-D0F4C877C45E}"/>
              </a:ext>
            </a:extLst>
          </p:cNvPr>
          <p:cNvSpPr/>
          <p:nvPr/>
        </p:nvSpPr>
        <p:spPr>
          <a:xfrm>
            <a:off x="5585399" y="31548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5550"/>
              </a:lnSpc>
              <a:buNone/>
            </a:pPr>
            <a:r>
              <a:rPr lang="en-US" sz="28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Error Handling and Reporting</a:t>
            </a:r>
            <a:endParaRPr lang="en-US" sz="2800" dirty="0"/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15E5C233-1A05-341B-297A-A9E3864B0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572" y="1419790"/>
            <a:ext cx="1134070" cy="2531745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33FD9C43-D457-2C99-BEEA-7B00988F6385}"/>
              </a:ext>
            </a:extLst>
          </p:cNvPr>
          <p:cNvSpPr/>
          <p:nvPr/>
        </p:nvSpPr>
        <p:spPr>
          <a:xfrm>
            <a:off x="7038804" y="164660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PowerShell</a:t>
            </a:r>
            <a:endParaRPr lang="en-US" sz="16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52059F0A-E7E1-4F0B-69ED-6689C26C8AAE}"/>
              </a:ext>
            </a:extLst>
          </p:cNvPr>
          <p:cNvSpPr/>
          <p:nvPr/>
        </p:nvSpPr>
        <p:spPr>
          <a:xfrm>
            <a:off x="7038804" y="2137022"/>
            <a:ext cx="46496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Offers advanced error handling with try-catch blocks and detailed error objects for precise debugging.</a:t>
            </a:r>
            <a:endParaRPr lang="en-US" sz="16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6A1B30E-3AD7-3188-772B-D5F234457172}"/>
              </a:ext>
            </a:extLst>
          </p:cNvPr>
          <p:cNvSpPr/>
          <p:nvPr/>
        </p:nvSpPr>
        <p:spPr>
          <a:xfrm>
            <a:off x="7038804" y="2998916"/>
            <a:ext cx="46496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</a:t>
            </a:r>
            <a:r>
              <a:rPr lang="en-US" sz="1600" b="1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$ErrorActionPreference = "Stop"; try { ... } catch { Write-Host $_.Exception.Message }</a:t>
            </a:r>
            <a:endParaRPr lang="en-US" sz="1600" dirty="0"/>
          </a:p>
        </p:txBody>
      </p:sp>
      <p:pic>
        <p:nvPicPr>
          <p:cNvPr id="10" name="Image 2" descr="preencoded.png">
            <a:extLst>
              <a:ext uri="{FF2B5EF4-FFF2-40B4-BE49-F238E27FC236}">
                <a16:creationId xmlns:a16="http://schemas.microsoft.com/office/drawing/2014/main" id="{F933B892-424C-DFF2-72A3-0184596F3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572" y="3951535"/>
            <a:ext cx="1134070" cy="2168843"/>
          </a:xfrm>
          <a:prstGeom prst="rect">
            <a:avLst/>
          </a:prstGeom>
        </p:spPr>
      </p:pic>
      <p:sp>
        <p:nvSpPr>
          <p:cNvPr id="11" name="Text 4">
            <a:extLst>
              <a:ext uri="{FF2B5EF4-FFF2-40B4-BE49-F238E27FC236}">
                <a16:creationId xmlns:a16="http://schemas.microsoft.com/office/drawing/2014/main" id="{F83F714D-A5B5-2F06-2662-23FEF5E37C6D}"/>
              </a:ext>
            </a:extLst>
          </p:cNvPr>
          <p:cNvSpPr/>
          <p:nvPr/>
        </p:nvSpPr>
        <p:spPr>
          <a:xfrm>
            <a:off x="7038804" y="41783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Shell Scripting</a:t>
            </a:r>
            <a:endParaRPr lang="en-US" sz="1600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43054E77-E905-5D9E-A386-2C0F7D863A0A}"/>
              </a:ext>
            </a:extLst>
          </p:cNvPr>
          <p:cNvSpPr/>
          <p:nvPr/>
        </p:nvSpPr>
        <p:spPr>
          <a:xfrm>
            <a:off x="7038804" y="4668767"/>
            <a:ext cx="46496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Uses exit codes and conditional statements for error checking, simpler but less descriptive.</a:t>
            </a:r>
            <a:endParaRPr lang="en-US" sz="16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CDF83788-8137-6198-D5A8-B5013D1A3228}"/>
              </a:ext>
            </a:extLst>
          </p:cNvPr>
          <p:cNvSpPr/>
          <p:nvPr/>
        </p:nvSpPr>
        <p:spPr>
          <a:xfrm>
            <a:off x="7038804" y="5530660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Example: command || { echo "Error!"; exit 1; }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803552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73A3B97-71A1-CDD8-69A1-BAFDDE10A219}"/>
              </a:ext>
            </a:extLst>
          </p:cNvPr>
          <p:cNvSpPr/>
          <p:nvPr/>
        </p:nvSpPr>
        <p:spPr>
          <a:xfrm>
            <a:off x="873303" y="1188772"/>
            <a:ext cx="65860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Use Cases and Examples</a:t>
            </a:r>
            <a:endParaRPr lang="en-US" sz="44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84998A4-F490-2DFF-EFA9-C585BE4A492C}"/>
              </a:ext>
            </a:extLst>
          </p:cNvPr>
          <p:cNvSpPr/>
          <p:nvPr/>
        </p:nvSpPr>
        <p:spPr>
          <a:xfrm>
            <a:off x="873303" y="2464527"/>
            <a:ext cx="292465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PowerShell Use Cases</a:t>
            </a:r>
            <a:endParaRPr lang="en-US" sz="2200" dirty="0"/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0478BC12-0243-BCBA-5A85-0992BD76D3BF}"/>
              </a:ext>
            </a:extLst>
          </p:cNvPr>
          <p:cNvSpPr/>
          <p:nvPr/>
        </p:nvSpPr>
        <p:spPr>
          <a:xfrm>
            <a:off x="873303" y="30456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Windows Server role configuration</a:t>
            </a:r>
            <a:endParaRPr lang="en-US" sz="1750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0EC3DE33-50DA-12AF-28D8-FB1BF165117A}"/>
              </a:ext>
            </a:extLst>
          </p:cNvPr>
          <p:cNvSpPr/>
          <p:nvPr/>
        </p:nvSpPr>
        <p:spPr>
          <a:xfrm>
            <a:off x="873303" y="34878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Active Directory management</a:t>
            </a:r>
            <a:endParaRPr lang="en-US" sz="175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09F0C98-6A4E-13DE-136F-BB138813495C}"/>
              </a:ext>
            </a:extLst>
          </p:cNvPr>
          <p:cNvSpPr/>
          <p:nvPr/>
        </p:nvSpPr>
        <p:spPr>
          <a:xfrm>
            <a:off x="873303" y="39300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Exchange server automation</a:t>
            </a:r>
            <a:endParaRPr lang="en-US" sz="175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253AB76B-82D1-7957-9F4A-733F0CABADF4}"/>
              </a:ext>
            </a:extLst>
          </p:cNvPr>
          <p:cNvSpPr/>
          <p:nvPr/>
        </p:nvSpPr>
        <p:spPr>
          <a:xfrm>
            <a:off x="873303" y="43722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Patch deployment across large server farms</a:t>
            </a:r>
            <a:endParaRPr lang="en-US" sz="17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BAF493D-4778-A6A4-5F46-313B9C3F9A03}"/>
              </a:ext>
            </a:extLst>
          </p:cNvPr>
          <p:cNvSpPr/>
          <p:nvPr/>
        </p:nvSpPr>
        <p:spPr>
          <a:xfrm>
            <a:off x="7679034" y="2464527"/>
            <a:ext cx="336935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Shell Scripting Use Cases</a:t>
            </a:r>
            <a:endParaRPr lang="en-US" sz="22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51C75719-82AF-9B0E-F4F4-AF1DEA57458B}"/>
              </a:ext>
            </a:extLst>
          </p:cNvPr>
          <p:cNvSpPr/>
          <p:nvPr/>
        </p:nvSpPr>
        <p:spPr>
          <a:xfrm>
            <a:off x="7679034" y="304567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Linux system administration</a:t>
            </a:r>
            <a:endParaRPr lang="en-US" sz="17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F6B9B73-1522-7E73-0F98-AC2BA1C51784}"/>
              </a:ext>
            </a:extLst>
          </p:cNvPr>
          <p:cNvSpPr/>
          <p:nvPr/>
        </p:nvSpPr>
        <p:spPr>
          <a:xfrm>
            <a:off x="7679034" y="348786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Automated server deployments</a:t>
            </a:r>
            <a:endParaRPr lang="en-US" sz="175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F40FC8DF-D1A2-95C4-D500-408FD049CB23}"/>
              </a:ext>
            </a:extLst>
          </p:cNvPr>
          <p:cNvSpPr/>
          <p:nvPr/>
        </p:nvSpPr>
        <p:spPr>
          <a:xfrm>
            <a:off x="7679034" y="393006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Log file parsing and analysis</a:t>
            </a:r>
            <a:endParaRPr lang="en-US" sz="175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4392306C-B56C-1355-3A07-6C4A261ADD47}"/>
              </a:ext>
            </a:extLst>
          </p:cNvPr>
          <p:cNvSpPr/>
          <p:nvPr/>
        </p:nvSpPr>
        <p:spPr>
          <a:xfrm>
            <a:off x="7679034" y="4372266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Orchestrating Docker containers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892321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29A77E4-A8CA-5E45-9681-19035FA2E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6660" y="0"/>
            <a:ext cx="5115339" cy="6858000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FA855788-7516-5794-796C-DD39A58B1EE9}"/>
              </a:ext>
            </a:extLst>
          </p:cNvPr>
          <p:cNvSpPr/>
          <p:nvPr/>
        </p:nvSpPr>
        <p:spPr>
          <a:xfrm>
            <a:off x="934084" y="608966"/>
            <a:ext cx="6333934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5550"/>
              </a:lnSpc>
              <a:buNone/>
            </a:pPr>
            <a:r>
              <a:rPr lang="en-US" sz="280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Advantages and Disadvantages</a:t>
            </a:r>
            <a:endParaRPr lang="en-US" sz="2800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4A2ED375-28C6-7630-595A-EEE652C8D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533" y="2030036"/>
            <a:ext cx="475250" cy="566976"/>
          </a:xfrm>
          <a:prstGeom prst="rect">
            <a:avLst/>
          </a:prstGeom>
        </p:spPr>
      </p:pic>
      <p:sp>
        <p:nvSpPr>
          <p:cNvPr id="8" name="Text 1">
            <a:extLst>
              <a:ext uri="{FF2B5EF4-FFF2-40B4-BE49-F238E27FC236}">
                <a16:creationId xmlns:a16="http://schemas.microsoft.com/office/drawing/2014/main" id="{A78D1BBD-21A9-F451-2987-F41B4A536942}"/>
              </a:ext>
            </a:extLst>
          </p:cNvPr>
          <p:cNvSpPr/>
          <p:nvPr/>
        </p:nvSpPr>
        <p:spPr>
          <a:xfrm>
            <a:off x="934085" y="2125048"/>
            <a:ext cx="23827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PowerShell Strengths</a:t>
            </a:r>
            <a:endParaRPr lang="en-US" sz="1600" dirty="0"/>
          </a:p>
        </p:txBody>
      </p:sp>
      <p:sp>
        <p:nvSpPr>
          <p:cNvPr id="9" name="Text 2">
            <a:extLst>
              <a:ext uri="{FF2B5EF4-FFF2-40B4-BE49-F238E27FC236}">
                <a16:creationId xmlns:a16="http://schemas.microsoft.com/office/drawing/2014/main" id="{9B9A4147-F6DE-4A02-F9C6-2186382DEF5B}"/>
              </a:ext>
            </a:extLst>
          </p:cNvPr>
          <p:cNvSpPr/>
          <p:nvPr/>
        </p:nvSpPr>
        <p:spPr>
          <a:xfrm>
            <a:off x="934084" y="2678838"/>
            <a:ext cx="23827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Powerful object manipulation and integration with Microsoft products make it ideal for complex automation.</a:t>
            </a:r>
            <a:endParaRPr lang="en-US" sz="1600" dirty="0"/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023E855C-C806-54FB-CCE0-B38B43980179}"/>
              </a:ext>
            </a:extLst>
          </p:cNvPr>
          <p:cNvSpPr/>
          <p:nvPr/>
        </p:nvSpPr>
        <p:spPr>
          <a:xfrm>
            <a:off x="934084" y="4738947"/>
            <a:ext cx="23827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However, it has a steeper learning curve for new users.</a:t>
            </a:r>
            <a:endParaRPr lang="en-US" sz="16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D4BC761D-5118-2561-C6E0-056F1B465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8713" y="2026524"/>
            <a:ext cx="475250" cy="566976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C8D93401-2321-8FC8-768E-A3C927916AC1}"/>
              </a:ext>
            </a:extLst>
          </p:cNvPr>
          <p:cNvSpPr/>
          <p:nvPr/>
        </p:nvSpPr>
        <p:spPr>
          <a:xfrm>
            <a:off x="4527261" y="2026524"/>
            <a:ext cx="23828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Shell Scripting Strengths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2F842B3-1842-2A59-A3B2-B497BB82B0FE}"/>
              </a:ext>
            </a:extLst>
          </p:cNvPr>
          <p:cNvSpPr/>
          <p:nvPr/>
        </p:nvSpPr>
        <p:spPr>
          <a:xfrm>
            <a:off x="4438894" y="2735184"/>
            <a:ext cx="2382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Quick to write and ideal for straightforward tasks on Unix-like systems.</a:t>
            </a:r>
            <a:endParaRPr lang="en-US" sz="16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E8E62053-0ED6-F596-0BB9-C55F7CEEE9B4}"/>
              </a:ext>
            </a:extLst>
          </p:cNvPr>
          <p:cNvSpPr/>
          <p:nvPr/>
        </p:nvSpPr>
        <p:spPr>
          <a:xfrm>
            <a:off x="4438894" y="4364495"/>
            <a:ext cx="23828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6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Less structured, which can complicate large, complex scripts.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722650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  <p:bldP spid="10" grpId="0" animBg="1"/>
      <p:bldP spid="12" grpId="0" animBg="1"/>
      <p:bldP spid="13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0AA0A5F8-D4DB-E820-2673-DBA989E64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6457" y="-32658"/>
            <a:ext cx="4615543" cy="6923315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25203AA8-48D8-B942-D338-2EDAF498973B}"/>
              </a:ext>
            </a:extLst>
          </p:cNvPr>
          <p:cNvSpPr/>
          <p:nvPr/>
        </p:nvSpPr>
        <p:spPr>
          <a:xfrm>
            <a:off x="329904" y="18099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CBCCCE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Conclusion: Choosing the Right Tool</a:t>
            </a:r>
            <a:endParaRPr lang="en-US" sz="4450" dirty="0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CF9EF4C4-AAA7-C151-1825-9857EBF7347C}"/>
              </a:ext>
            </a:extLst>
          </p:cNvPr>
          <p:cNvSpPr/>
          <p:nvPr/>
        </p:nvSpPr>
        <p:spPr>
          <a:xfrm>
            <a:off x="349652" y="18338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2238B31-BC0A-DC90-6A31-2E76C4D3C67F}"/>
              </a:ext>
            </a:extLst>
          </p:cNvPr>
          <p:cNvSpPr/>
          <p:nvPr/>
        </p:nvSpPr>
        <p:spPr>
          <a:xfrm>
            <a:off x="1023273" y="1812202"/>
            <a:ext cx="2899410" cy="1062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Evaluate Environment and Task Complexity</a:t>
            </a:r>
            <a:endParaRPr lang="en-US" sz="2200" dirty="0"/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2BF48ED3-5A39-FD11-59FA-2601BAEE5216}"/>
              </a:ext>
            </a:extLst>
          </p:cNvPr>
          <p:cNvSpPr/>
          <p:nvPr/>
        </p:nvSpPr>
        <p:spPr>
          <a:xfrm>
            <a:off x="1023273" y="2654991"/>
            <a:ext cx="289941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Assess target platforms and automation needs before deciding your scripting approach.</a:t>
            </a:r>
            <a:endParaRPr lang="en-US" sz="175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9A5844BC-FC3A-5FBD-C817-D7C44B9799AD}"/>
              </a:ext>
            </a:extLst>
          </p:cNvPr>
          <p:cNvSpPr/>
          <p:nvPr/>
        </p:nvSpPr>
        <p:spPr>
          <a:xfrm>
            <a:off x="4269665" y="183381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822F85C9-BFC0-5A9D-C506-E168D7A20451}"/>
              </a:ext>
            </a:extLst>
          </p:cNvPr>
          <p:cNvSpPr/>
          <p:nvPr/>
        </p:nvSpPr>
        <p:spPr>
          <a:xfrm>
            <a:off x="4924569" y="1772441"/>
            <a:ext cx="2342862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Consider Cross-Platform Needs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598C97AB-2CFB-22CD-2938-62756A1B06A9}"/>
              </a:ext>
            </a:extLst>
          </p:cNvPr>
          <p:cNvSpPr/>
          <p:nvPr/>
        </p:nvSpPr>
        <p:spPr>
          <a:xfrm>
            <a:off x="4924569" y="2588638"/>
            <a:ext cx="2342862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PowerShell Core offers great cross-platform support; shell scripting shines in native Unix environments.</a:t>
            </a:r>
            <a:endParaRPr lang="en-US" sz="17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306E935C-54F9-1546-AF59-16606738207E}"/>
              </a:ext>
            </a:extLst>
          </p:cNvPr>
          <p:cNvSpPr/>
          <p:nvPr/>
        </p:nvSpPr>
        <p:spPr>
          <a:xfrm>
            <a:off x="329904" y="476930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D3D42"/>
          </a:solidFill>
          <a:ln w="7620">
            <a:solidFill>
              <a:srgbClr val="56565B"/>
            </a:solidFill>
            <a:prstDash val="solid"/>
          </a:ln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F248A624-F9E9-23EA-BC09-32CB58F322B5}"/>
              </a:ext>
            </a:extLst>
          </p:cNvPr>
          <p:cNvSpPr/>
          <p:nvPr/>
        </p:nvSpPr>
        <p:spPr>
          <a:xfrm>
            <a:off x="1056867" y="4847289"/>
            <a:ext cx="289631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750"/>
              </a:lnSpc>
              <a:buNone/>
            </a:pPr>
            <a:r>
              <a:rPr lang="en-US" sz="2200" dirty="0">
                <a:solidFill>
                  <a:srgbClr val="CFD0D8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Embrace Hybrid Skills</a:t>
            </a:r>
            <a:endParaRPr lang="en-US" sz="22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32866B3-DFCC-9707-54DF-8F17632389F0}"/>
              </a:ext>
            </a:extLst>
          </p:cNvPr>
          <p:cNvSpPr/>
          <p:nvPr/>
        </p:nvSpPr>
        <p:spPr>
          <a:xfrm>
            <a:off x="1056867" y="5285701"/>
            <a:ext cx="62628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17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Developing proficiency in both tools maximizes flexibility and effectiveness in diverse IT infrastructures.</a:t>
            </a:r>
            <a:endParaRPr lang="en-US" sz="1750" dirty="0"/>
          </a:p>
        </p:txBody>
      </p:sp>
    </p:spTree>
    <p:extLst>
      <p:ext uri="{BB962C8B-B14F-4D97-AF65-F5344CB8AC3E}">
        <p14:creationId xmlns:p14="http://schemas.microsoft.com/office/powerpoint/2010/main" val="1551461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Any Questions? If not just clap. - Am I the only one Meme Generator">
            <a:extLst>
              <a:ext uri="{FF2B5EF4-FFF2-40B4-BE49-F238E27FC236}">
                <a16:creationId xmlns:a16="http://schemas.microsoft.com/office/drawing/2014/main" id="{2D59C6DC-9812-3CEE-682F-A47A7ADEC3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006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8950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639</Words>
  <Application>Microsoft Macintosh PowerPoint</Application>
  <PresentationFormat>Widescreen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Instrument Sans Bold</vt:lpstr>
      <vt:lpstr>Instrument Sans Medium</vt:lpstr>
      <vt:lpstr>Instrument Sans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Aarju Kc</dc:creator>
  <cp:lastModifiedBy>Aarju Kc</cp:lastModifiedBy>
  <cp:revision>4</cp:revision>
  <dcterms:created xsi:type="dcterms:W3CDTF">2025-05-04T18:13:45Z</dcterms:created>
  <dcterms:modified xsi:type="dcterms:W3CDTF">2025-05-05T02:12:35Z</dcterms:modified>
</cp:coreProperties>
</file>